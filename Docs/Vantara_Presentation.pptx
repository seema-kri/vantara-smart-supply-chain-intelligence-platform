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1A2233"/>
                </a:solidFill>
                <a:latin typeface="Cambria"/>
              </a:rPr>
              <a:t>Deliveries by Status (thousands)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Deliveries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67B-46FD-B9AA-5DAFBEE92093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7B-46FD-B9AA-5DAFBEE92093}"/>
              </c:ext>
            </c:extLst>
          </c:dPt>
          <c:dPt>
            <c:idx val="2"/>
            <c:invertIfNegative val="0"/>
            <c:bubble3D val="0"/>
            <c:spPr>
              <a:solidFill>
                <a:srgbClr val="1E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7B-46FD-B9AA-5DAFBEE92093}"/>
              </c:ext>
            </c:extLst>
          </c:dPt>
          <c:dPt>
            <c:idx val="3"/>
            <c:invertIfNegative val="0"/>
            <c:bubble3D val="0"/>
            <c:spPr>
              <a:solidFill>
                <a:srgbClr val="6B7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67B-46FD-B9AA-5DAFBEE92093}"/>
              </c:ext>
            </c:extLst>
          </c:dPt>
          <c:dLbls>
            <c:numFmt formatCode="0.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2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Late delivery</c:v>
                </c:pt>
                <c:pt idx="1">
                  <c:v>Advance shipping</c:v>
                </c:pt>
                <c:pt idx="2">
                  <c:v>Shipping on time</c:v>
                </c:pt>
                <c:pt idx="3">
                  <c:v>Shipping canceled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15.1</c:v>
                </c:pt>
                <c:pt idx="2">
                  <c:v>11.7</c:v>
                </c:pt>
                <c:pt idx="3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67B-46FD-B9AA-5DAFBEE920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274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62179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Supply Chain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Platform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3977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Delivery &amp; Customer Performance Analysis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4709160"/>
            <a:ext cx="2011680" cy="0"/>
          </a:xfrm>
          <a:prstGeom prst="line">
            <a:avLst/>
          </a:prstGeom>
          <a:noFill/>
          <a:ln w="31750">
            <a:solidFill>
              <a:srgbClr val="F2C8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Seema Kumari</a:t>
            </a:r>
            <a:r>
              <a:rPr lang="en-US" sz="1400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Business Analyst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180,519 order-line records  ·  2015 – 2017  ·  End-to-end analytics case study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 Chose This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picked for the kind of judgment a real analyst role demands — and most portfolio projects avoid.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585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 hidden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rises every year. A shallow read says “healthy.” Only pulling revenue, status mix, and delivery apart separately reveals a sharp Q4 2017 revenue collapse sitting underneath rising volume.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286000"/>
            <a:ext cx="457200" cy="4572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2585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wrong answer already sitting in the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reference figure put customer loyalty at 76%. It had to be recalculated from first principles, independently, in SQL, DAX, and Excel before it could be trusted.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4988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analyst toolchain, end to end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0749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signed-off BRD before any pipeline work, Python for cleaning, PostgreSQL for a proper relational model, SQL analysis, an Excel cross-check, and a Power BI executive layer.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29768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526280"/>
            <a:ext cx="457200" cy="4572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4988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Rewards going one level deeper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50749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drop, the late-delivery pattern, the loyalty figure — each has a first answer and a truer answer underneath. It punishes stopping at the first plausible explanation.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on Paper, Pressure Underneath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46120" cy="4572000"/>
          </a:xfrm>
          <a:prstGeom prst="roundRect">
            <a:avLst>
              <a:gd name="adj" fmla="val 2254"/>
            </a:avLst>
          </a:prstGeom>
          <a:solidFill>
            <a:srgbClr val="0C1B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63,629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96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188720" y="3044952"/>
            <a:ext cx="1965960" cy="0"/>
          </a:xfrm>
          <a:prstGeom prst="line">
            <a:avLst/>
          </a:prstGeom>
          <a:noFill/>
          <a:ln w="9525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180,519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913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Order-line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88720" y="4462272"/>
            <a:ext cx="1965960" cy="0"/>
          </a:xfrm>
          <a:prstGeom prst="line">
            <a:avLst/>
          </a:prstGeom>
          <a:noFill/>
          <a:ln w="9525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7091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2015–2017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53309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Analyzed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0" y="1645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leadership observed (2015–2017)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2148840"/>
            <a:ext cx="7498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kept increasing, but revenue growth slowed — and in some months reversed sharply.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times were inconsistent across shipping modes, with a high share of orders arriving late.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unclear how loyal the customer base really was, or which segments deserved more investment.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share of orders sat in unresolved statuses  pending payment, on hold, fraud review  making true confirmed revenue hard to pin down.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114800" y="5806440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58064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into order, customer, product, and delivery data — find what's really happening.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Core Question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32A5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b="1" i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is Vantara losing money and customers,</a:t>
            </a:r>
            <a:endParaRPr lang="en-US" sz="2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000" b="1" i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should be done about it?”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through five key business questions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3657600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revenue drop sharply in late 2017 despite order volume staying high?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7033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3657600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and regions bring the most — and least — profit?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434840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reliable is delivery, and which shipping modes have the highest late-delivery rates?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4480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39128" y="4434840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is confirmed (Complete/Closed) vs. pending, on hold, or fraud risk?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loyal are Vantara's customers — and does loyalty differ by segment?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That Masks a Collapse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2017 PEAK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$1.03M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77640" y="2377440"/>
            <a:ext cx="822960" cy="548640"/>
          </a:xfrm>
          <a:prstGeom prst="rightArrow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-56%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69164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0C1B3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240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$453K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02920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order volume held steady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49640" y="1691640"/>
            <a:ext cx="3063240" cy="2011680"/>
          </a:xfrm>
          <a:prstGeom prst="roundRect">
            <a:avLst>
              <a:gd name="adj" fmla="val 3636"/>
            </a:avLst>
          </a:prstGeom>
          <a:solidFill>
            <a:srgbClr val="FDF3D0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874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47.91%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732520" y="25146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Rate card — one flat number, all year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headline number hid 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10789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month-over-month analysis shows real volatility the dashboard never surfaces  a -11.85% drop in Feb 2015 followed by a +13.40% rebound in Mar 2015.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 page shows one static 47.91% growth figure with no indication of which period it compares a stable-looking card sitting on top of an unstable trend.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the dashboard reports a point-in-time growth metric with no trend visibility, so a genuine Q4 2017 collapse reads as noise until the underlying months are examined directly.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Delivery Is the #1 Operational Risk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0350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00200"/>
            <a:ext cx="4709160" cy="1234440"/>
          </a:xfrm>
          <a:prstGeom prst="roundRect">
            <a:avLst>
              <a:gd name="adj" fmla="val 5926"/>
            </a:avLst>
          </a:prstGeom>
          <a:solidFill>
            <a:srgbClr val="FBEAE8"/>
          </a:solidFill>
          <a:ln/>
        </p:spPr>
      </p:sp>
      <p:sp>
        <p:nvSpPr>
          <p:cNvPr id="6" name="Text 3"/>
          <p:cNvSpPr/>
          <p:nvPr/>
        </p:nvSpPr>
        <p:spPr>
          <a:xfrm>
            <a:off x="7086600" y="16916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549640" y="16916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tracked deliveries arrive late — far ahead of every other status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03720" y="2971800"/>
            <a:ext cx="4709160" cy="1234440"/>
          </a:xfrm>
          <a:prstGeom prst="roundRect">
            <a:avLst>
              <a:gd name="adj" fmla="val 5926"/>
            </a:avLst>
          </a:prstGeom>
          <a:solidFill>
            <a:srgbClr val="E6F2E9"/>
          </a:solidFill>
          <a:ln/>
        </p:spPr>
      </p:sp>
      <p:sp>
        <p:nvSpPr>
          <p:cNvPr id="9" name="Text 6"/>
          <p:cNvSpPr/>
          <p:nvPr/>
        </p:nvSpPr>
        <p:spPr>
          <a:xfrm>
            <a:off x="7086600" y="30632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vs 4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08660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95360" y="30632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ships in 2 days — Standard &amp; Second Class average 4, twice as long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03720" y="434340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44805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mismatch: </a:t>
            </a: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confirms severity at order-line grain (54.83% of 180,519 lines), but the dashboard's 36.0K figure is counted at shipment grain — the two don't reconcile.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late delivery is real and dominant — but reported at two different grains, so its true scale is currently ambiguous to stakeholders.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You Can't Fully Trust — Yet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1E8A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rate: now proven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56.98% repeat customer rate independently recalculated in SQL, DAX, and Excel using order-sequence logic — replacing an unverified prior reference of 76%.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92024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34840" y="2423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disagrees with itself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34840" y="31546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 KPI card shows 56.98% repeat customers. The narrative text on the same page states 63.51%. Same page, two numbers.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169164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192024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46720" y="2423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hides global revenue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046720" y="31546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England, Isle of France, and California rank among top revenue locations in SQL — but the map visual renders U.S. states only, leaving international revenue invisible.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0744200" cy="914400"/>
          </a:xfrm>
          <a:prstGeom prst="roundRect">
            <a:avLst>
              <a:gd name="adj" fmla="val 8000"/>
            </a:avLst>
          </a:prstGeom>
          <a:solidFill>
            <a:srgbClr val="0C1B3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32120"/>
            <a:ext cx="10195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single, documented source of truth — metrics and visuals were each built independently instead of against one shared, verified definition.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Investigation Was Built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analyst toolchain — not a single dashboard file.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417320" y="3291840"/>
            <a:ext cx="9326880" cy="0"/>
          </a:xfrm>
          <a:prstGeom prst="line">
            <a:avLst/>
          </a:prstGeom>
          <a:noFill/>
          <a:ln w="25400">
            <a:solidFill>
              <a:srgbClr val="D5DA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3090672"/>
            <a:ext cx="402336" cy="40233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0" y="2788920"/>
            <a:ext cx="0" cy="301752"/>
          </a:xfrm>
          <a:prstGeom prst="line">
            <a:avLst/>
          </a:prstGeom>
          <a:noFill/>
          <a:ln w="12700">
            <a:solidFill>
              <a:srgbClr val="D5DA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Signed-off business requirements before any pipeline work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81528" y="3090672"/>
            <a:ext cx="402336" cy="40233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82696" y="3493008"/>
            <a:ext cx="0" cy="182880"/>
          </a:xfrm>
          <a:prstGeom prst="line">
            <a:avLst/>
          </a:prstGeom>
          <a:noFill/>
          <a:ln w="12700">
            <a:solidFill>
              <a:srgbClr val="D5DAE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368296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68296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type fixes, standardization (Pandas)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46904" y="3090672"/>
            <a:ext cx="402336" cy="40233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46904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48072" y="2788920"/>
            <a:ext cx="0" cy="301752"/>
          </a:xfrm>
          <a:prstGeom prst="line">
            <a:avLst/>
          </a:prstGeom>
          <a:noFill/>
          <a:ln w="12700">
            <a:solidFill>
              <a:srgbClr val="D5DAE1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233672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33672" y="1874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1 fact + 4 dimension tables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12280" y="3090672"/>
            <a:ext cx="402336" cy="40233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13448" y="3493008"/>
            <a:ext cx="0" cy="182880"/>
          </a:xfrm>
          <a:prstGeom prst="line">
            <a:avLst/>
          </a:prstGeom>
          <a:noFill/>
          <a:ln w="12700">
            <a:solidFill>
              <a:srgbClr val="D5DA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099048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99048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ranks, running totals, moving averages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77656" y="3090672"/>
            <a:ext cx="402336" cy="40233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77656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78824" y="2788920"/>
            <a:ext cx="0" cy="301752"/>
          </a:xfrm>
          <a:prstGeom prst="line">
            <a:avLst/>
          </a:prstGeom>
          <a:noFill/>
          <a:ln w="12700">
            <a:solidFill>
              <a:srgbClr val="D5DAE1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964424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64424" y="1874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pivot cross-check of every headline metric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543032" y="3090672"/>
            <a:ext cx="402336" cy="402336"/>
          </a:xfrm>
          <a:prstGeom prst="ellipse">
            <a:avLst/>
          </a:prstGeom>
          <a:solidFill>
            <a:srgbClr val="F2C8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4303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744200" y="3493008"/>
            <a:ext cx="0" cy="182880"/>
          </a:xfrm>
          <a:prstGeom prst="line">
            <a:avLst/>
          </a:prstGeom>
          <a:noFill/>
          <a:ln w="12700">
            <a:solidFill>
              <a:srgbClr val="D5DAE1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982980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829800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executive dashboard on a branded theme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judgment call — assumptions, exclusions, definitions — logged in a running Decisions Log alongside the deliverables.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Vantara Should Do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617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47672"/>
            <a:ext cx="3429000" cy="2468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FIX BEFORE NEXT 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880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Sales Growth Rate calculation; add a trend view so it isn't read as constant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repeat-customer definition as one source of truth across SQL and Power BI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map's scope — world view or market filter so international revenue isn't hidden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late-delivery counts to a single grain across SQL and the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3429000" cy="4617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69164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B8860B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1947672"/>
            <a:ext cx="3429000" cy="24688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691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ADDS ANALYTICAL DEPTH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423160"/>
            <a:ext cx="2880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VIP/high-value customer segment for retention workflows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3-month moving-average fulfilment trend line to Delivery Performance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customer value-tier (quartile) view for targeted marketing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order-cadence view to power win-back campaign triggers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691640"/>
            <a:ext cx="3429000" cy="4617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169164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0" y="1947672"/>
            <a:ext cx="3429000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1691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NICE TO HAVE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423160"/>
            <a:ext cx="2880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cumulative running-total revenue on the existing trend chart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 on category profitability — ranking is stable and already accurate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DELIVERS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Investigation to 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data-backed explanation of where revenue and profit came under pressure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365760" cy="36576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3042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concrete, prioritized recommendations — four of them flagged for action before the next review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365760" cy="36576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96265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Power BI dashboard leadership can explore independently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666744"/>
            <a:ext cx="365760" cy="36576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36210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clear enough that a new analyst could pick up the project without extra explanation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0881360" cy="0"/>
          </a:xfrm>
          <a:prstGeom prst="line">
            <a:avLst/>
          </a:prstGeom>
          <a:noFill/>
          <a:ln w="9525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92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Seema Kumari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kriseema87@gmail.com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0020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linkedin.com/in/seema-kumari-375763308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github.com/seema-kri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48920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i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1214</Words>
  <Application>Microsoft Office PowerPoint</Application>
  <PresentationFormat>Widescreen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Seema Kumari</cp:lastModifiedBy>
  <cp:revision>2</cp:revision>
  <dcterms:created xsi:type="dcterms:W3CDTF">2026-08-23T10:43:57Z</dcterms:created>
  <dcterms:modified xsi:type="dcterms:W3CDTF">2026-08-23T10:48:46Z</dcterms:modified>
</cp:coreProperties>
</file>